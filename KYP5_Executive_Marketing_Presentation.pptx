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3000895" cy="868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691640"/>
            <a:ext cx="43891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✦  OFFICIAL INSTITUTIONAL PROPOSAL &amp;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KYP5 — Scientific Career Guidance</a:t>
            </a:r>
          </a:p>
          <a:p>
            <a:pPr>
              <a:spcBef>
                <a:spcPts val="600"/>
              </a:spcBef>
              <a:defRPr sz="2000" b="1">
                <a:solidFill>
                  <a:srgbClr val="2563EB"/>
                </a:solidFill>
                <a:latin typeface="Calibri"/>
              </a:defRPr>
            </a:pPr>
            <a:r>
              <a:t>Know Your Potential, Personality, Progress &amp; Path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 complete turnkey scientific testing, stream allocation &amp; career guidance platform for Schools, Counselors, Students &amp; Parents. Replaces guesswork with counselor-certified 15-page diagnostic roadmaps.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25420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2542032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36592"/>
            <a:ext cx="217627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50,000+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Students Assessed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Across 18+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572000"/>
            <a:ext cx="25420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3008" y="4572000"/>
            <a:ext cx="2542032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4736592"/>
            <a:ext cx="217627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250+</a:t>
            </a:r>
          </a:p>
          <a:p>
            <a:pPr>
              <a:spcBef>
                <a:spcPts val="200"/>
              </a:spcBef>
              <a:defRPr sz="1100" b="1">
                <a:solidFill>
                  <a:srgbClr val="9333EA"/>
                </a:solidFill>
                <a:latin typeface="Calibri"/>
              </a:defRPr>
            </a:pPr>
            <a:r>
              <a:t>Partner Schools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Leading K-12 Institutions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4572000"/>
            <a:ext cx="25420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45720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4736592"/>
            <a:ext cx="217627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98.4%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Satisfaction Rate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Parents &amp; Counselors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4572000"/>
            <a:ext cx="25420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4572000"/>
            <a:ext cx="2542032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4736592"/>
            <a:ext cx="217627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15+ Pages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  <a:latin typeface="Calibri"/>
              </a:defRPr>
            </a:pPr>
            <a:r>
              <a:t>Certified Dossier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Personalized Career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Presented by: Vibrantick Infotech Solutions  |  Official Platform: https://kyp5.com  |  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t>★ 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Presentation Agenda &amp; What We Will Cover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 comprehensive guide to transforming career guidance in your institution.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02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73152" cy="9875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65960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11D4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92808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The Career Crisis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Why 80% of students choose academic streams blindly and the cost of stream mismatches.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73152" cy="9875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92808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The KYP5 Solution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An automated scientific guidance engine delivering instant counselor-certified clarity.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62072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862072"/>
            <a:ext cx="73152" cy="9875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044952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9333E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971800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5-Pillar Scientific Framework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Career interest profiling, learning style analysis, and core cognitive aptitude assessments.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862072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2862072"/>
            <a:ext cx="73152" cy="9875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3044952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71800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Frictionless Experience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4-step seamless test runner and counselor workflow accessible on any device.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41063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3941063"/>
            <a:ext cx="73152" cy="9875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123943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050791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Inside the 15-Page Dossier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Exhaustive breakdown of student suitability radar charts, career clusters &amp; roadmap.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41063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3941063"/>
            <a:ext cx="73152" cy="9875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4123943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50791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Institutional Suite for Schools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Turnkey batch drives, dispute-free stream allocation, counselor workspace &amp; co-branding.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20056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5020056"/>
            <a:ext cx="73152" cy="9875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5202936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129784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360° Stakeholder Value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Measurable benefits for Schools, Counselors, Students, and Parents.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5020056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72200" y="5020056"/>
            <a:ext cx="73152" cy="9875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80" y="5202936"/>
            <a:ext cx="62179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F46E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29784"/>
            <a:ext cx="416052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Next Steps &amp; Onboarding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Pilot batch onboarding, live demo booking, and official contact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E11D48"/>
                </a:solidFill>
                <a:latin typeface="Calibri"/>
              </a:defRPr>
            </a:pPr>
            <a:r>
              <a:t>★  THE CAREER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80% of Students Choose Academic Streams Blindly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The severe lack of scientific guidance leads to stress, stream mismatches, and academic disengagement.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5780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84248"/>
            <a:ext cx="59436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11D4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47672"/>
            <a:ext cx="4114800" cy="17556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Calibri"/>
              </a:defRPr>
            </a:pPr>
            <a:r>
              <a:t>Arbitrary Stream Decisions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Class 10 students pick Science, Commerce, or Arts based on peer trends, family expectations, or marks in a single test, ignoring innate cognitive strengths and career interests.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25780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84248"/>
            <a:ext cx="59436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47672"/>
            <a:ext cx="4114800" cy="17556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Calibri"/>
              </a:defRPr>
            </a:pPr>
            <a:r>
              <a:t>High Academic Stress &amp; Dropout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Stream mismatches cause severe burnout, poor Class 11-12 board scores, and painful course switches after wasting crucial preparatory years and tuition fees.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257800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178807"/>
            <a:ext cx="59436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9333E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42231"/>
            <a:ext cx="4114800" cy="17556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Calibri"/>
              </a:defRPr>
            </a:pPr>
            <a:r>
              <a:t>Slow, Outdated Manual Testing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Traditional counseling relies on manual pen-and-paper questionnaires, taking weeks to grade and returning subjective, 1-page generic summaries with zero depth.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977639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178807"/>
            <a:ext cx="59436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42231"/>
            <a:ext cx="4114800" cy="17556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Calibri"/>
              </a:defRPr>
            </a:pPr>
            <a:r>
              <a:t>Parental Conflicts for Schools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Schools face intense friction from parents during stream allocation without objective, scientifically validated data to justify faculty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t>★  PRODUCT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KYP5: India's Leading Scientific Career Guidance Engine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An end-to-end institutional platform combining globally accredited scientific testing with instant actionable clarity.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30352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9776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alibri"/>
              </a:defRPr>
            </a:pPr>
            <a:r>
              <a:t>Why KYP5 Transforms Career Guidance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✔  Scientifically Calibrated Engine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Combines career interest profiling, multi-dimensional learning styles, and core cognitive aptitude assessments.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✔  Instant 15-Page Certified Dossier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Automated counselor-grade diagnostic report delivered immediately upon submission, with personalized stream match %.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✔  Turnkey Institutional Portal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Custom School Referral Codes (e.g. DPS-2026), counselor digital logbooks, live quota tracking, and co-branded reports.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✔  Pan-India Multi-Lingual Reach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Available in English, Hindi, and Punjabi to democratize quality career guidance for urban and Tier 2/3 institutions.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937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73152" cy="10241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002536"/>
            <a:ext cx="54864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92808"/>
            <a:ext cx="411480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Quick Onboarding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Students register instantly via School Code or direct enrollment on any 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98648"/>
            <a:ext cx="51937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898648"/>
            <a:ext cx="73152" cy="1024128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3118104"/>
            <a:ext cx="54864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008376"/>
            <a:ext cx="411480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Adaptive 45-Min Test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Engaging, distraction-free scientific career assessment with auto-save &amp; timer.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14215"/>
            <a:ext cx="51937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4014215"/>
            <a:ext cx="73152" cy="10241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233671"/>
            <a:ext cx="54864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123943"/>
            <a:ext cx="411480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Multi-Dimensional Scoring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Evaluates aptitude, personality &amp; stream fit across Science, Commerce &amp; Arts.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129784"/>
            <a:ext cx="51937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5129784"/>
            <a:ext cx="73152" cy="10241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7960" y="5349240"/>
            <a:ext cx="54864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239512"/>
            <a:ext cx="411480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Certified 15-Page Dossier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Instant download of complete career blueprint ready for parent conferences.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9333EA"/>
                </a:solidFill>
                <a:latin typeface="Calibri"/>
              </a:defRPr>
            </a:pPr>
            <a:r>
              <a:t>★  SCIENTIFIC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5 Core Pillars of the KYP5 Scientific Guidance Engine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Grounded in globally validated psychological research calibrated for Indian academic curricula.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203911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2039112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1764792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176479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POTENTIAL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Calibri"/>
              </a:defRPr>
            </a:pPr>
            <a:r>
              <a:t>Cognitive Aptitude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Abstract logic, spatial visualization, numerical reasoning, and verbal fluency modules to assess natural learning agility.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1783080"/>
            <a:ext cx="203911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07791" y="1783080"/>
            <a:ext cx="2039112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4951" y="1965960"/>
            <a:ext cx="1764792" cy="3657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2423160"/>
            <a:ext cx="176479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PERSONALITY</a:t>
            </a:r>
          </a:p>
          <a:p>
            <a:pPr>
              <a:spcBef>
                <a:spcPts val="200"/>
              </a:spcBef>
              <a:defRPr sz="1050" b="1">
                <a:solidFill>
                  <a:srgbClr val="9333EA"/>
                </a:solidFill>
                <a:latin typeface="Calibri"/>
              </a:defRPr>
            </a:pPr>
            <a:r>
              <a:t>Career Personality Profile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Evaluates 6 core career personality traits (Hands-on, Analytical, Creative, People-focused, Leadership, and Structured) with percentage match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783080"/>
            <a:ext cx="203911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4064" y="1783080"/>
            <a:ext cx="2039112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1965960"/>
            <a:ext cx="1764792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423160"/>
            <a:ext cx="176479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PROGRESS</a:t>
            </a:r>
          </a:p>
          <a:p>
            <a:pPr>
              <a:spcBef>
                <a:spcPts val="200"/>
              </a:spcBef>
              <a:defRPr sz="1050" b="1">
                <a:solidFill>
                  <a:srgbClr val="4F46E5"/>
                </a:solidFill>
                <a:latin typeface="Calibri"/>
              </a:defRPr>
            </a:pPr>
            <a:r>
              <a:t>Multiple Learning Styles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Evaluates 8 natural learning styles (Logical, Visual, Verbal, Interpersonal, Hands-on, Practical, and more).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783080"/>
            <a:ext cx="203911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0336" y="1783080"/>
            <a:ext cx="2039112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97496" y="1965960"/>
            <a:ext cx="1764792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2423160"/>
            <a:ext cx="176479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PATH</a:t>
            </a:r>
          </a:p>
          <a:p>
            <a:pPr>
              <a:spcBef>
                <a:spcPts val="200"/>
              </a:spcBef>
              <a:defRPr sz="1050" b="1">
                <a:solidFill>
                  <a:srgbClr val="D97706"/>
                </a:solidFill>
                <a:latin typeface="Calibri"/>
              </a:defRPr>
            </a:pPr>
            <a:r>
              <a:t>Stream &amp; Career Match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Algorithmic alignment with Science (PCM/PCB), Commerce, Humanities, and 500+ emerging modern career domains.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1783080"/>
            <a:ext cx="203911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36608" y="1783080"/>
            <a:ext cx="203911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73768" y="1965960"/>
            <a:ext cx="1764792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423160"/>
            <a:ext cx="176479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PLAN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4-Year Action Roadmap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Customized high school subject electives, competitive exam preparation tracks, skill certifications, and milestone 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t>★  STUDENT &amp; SCHOOL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Frictionless, Engaging &amp; Accessible on Any Device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Zero complex installation required — runs smoothly in school labs, home computers, or mobile phones.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84248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40"/>
            <a:ext cx="4800600" cy="1344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Simple Access &amp; School Code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Students browse available tests or enter their School Referral Code (e.g. DPS-2026) for instant, seamless batch enrollment without tedious paperwork.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257800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84248"/>
            <a:ext cx="1005840" cy="310896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4800600" cy="1344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Interactive Assessment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Distraction-free, responsive test runner with real-time countdown timer, live progress tracking, and automatic cloud saving for zero data loss.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25780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178807"/>
            <a:ext cx="100584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1999"/>
            <a:ext cx="4800600" cy="1344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Instant Algorithmic Scoring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Immediate evaluation computes primary, secondary &amp; tertiary stream matches along with key personality traits and cognitive strength clusters.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977639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178807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1999"/>
            <a:ext cx="4800600" cy="1344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15-Page Dossier &amp; Guidance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Students and parents download their certified PDF report immediately, providing school counselors with clear evidence for 1-on-1 counseling.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★  CERTIFIED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Inside the 15-Page Comprehensive Dossier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Every student receives a counselor-validated blueprint ready for parent conferences and admission decisions.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07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394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3949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846320" cy="39776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alibri"/>
              </a:defRPr>
            </a:pPr>
            <a:r>
              <a:t>Comprehensive Report Components</a:t>
            </a:r>
          </a:p>
          <a:p>
            <a:pPr>
              <a:spcBef>
                <a:spcPts val="600"/>
              </a:spcBef>
              <a:defRPr sz="1150" b="1">
                <a:solidFill>
                  <a:srgbClr val="10B981"/>
                </a:solidFill>
                <a:latin typeface="Calibri"/>
              </a:defRPr>
            </a:pPr>
            <a:r>
              <a:t>✦  Executive Stream Compatibility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Clear percentage alignment with Science (PCM/PCB), Commerce, and Humanities.</a:t>
            </a:r>
          </a:p>
          <a:p>
            <a:pPr>
              <a:spcBef>
                <a:spcPts val="600"/>
              </a:spcBef>
              <a:defRPr sz="1150" b="1">
                <a:solidFill>
                  <a:srgbClr val="10B981"/>
                </a:solidFill>
                <a:latin typeface="Calibri"/>
              </a:defRPr>
            </a:pPr>
            <a:r>
              <a:t>✦  Career Personality Profile Chart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Visual radar breakdown across 6 core career personality traits.</a:t>
            </a:r>
          </a:p>
          <a:p>
            <a:pPr>
              <a:spcBef>
                <a:spcPts val="600"/>
              </a:spcBef>
              <a:defRPr sz="1150" b="1">
                <a:solidFill>
                  <a:srgbClr val="10B981"/>
                </a:solidFill>
                <a:latin typeface="Calibri"/>
              </a:defRPr>
            </a:pPr>
            <a:r>
              <a:t>✦  Multiple Learning Styles Intelligence Profile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Identifies top 3 dominant learning styles and cognitive strengths.</a:t>
            </a:r>
          </a:p>
          <a:p>
            <a:pPr>
              <a:spcBef>
                <a:spcPts val="600"/>
              </a:spcBef>
              <a:defRPr sz="1150" b="1">
                <a:solidFill>
                  <a:srgbClr val="10B981"/>
                </a:solidFill>
                <a:latin typeface="Calibri"/>
              </a:defRPr>
            </a:pPr>
            <a:r>
              <a:t>✦  Top 5 Career Clusters &amp; 25+ Roles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Curated selection of high-growth careers matching student archetype.</a:t>
            </a:r>
          </a:p>
          <a:p>
            <a:pPr>
              <a:spcBef>
                <a:spcPts val="600"/>
              </a:spcBef>
              <a:defRPr sz="1150" b="1">
                <a:solidFill>
                  <a:srgbClr val="10B981"/>
                </a:solidFill>
                <a:latin typeface="Calibri"/>
              </a:defRPr>
            </a:pPr>
            <a:r>
              <a:t>✦  Personalized 4-Year Academic Roadmap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Recommended high school electives, competitive exams &amp; skill certifications.</a:t>
            </a:r>
          </a:p>
          <a:p>
            <a:pPr>
              <a:spcBef>
                <a:spcPts val="600"/>
              </a:spcBef>
              <a:defRPr sz="1150" b="1">
                <a:solidFill>
                  <a:srgbClr val="10B981"/>
                </a:solidFill>
                <a:latin typeface="Calibri"/>
              </a:defRPr>
            </a:pPr>
            <a:r>
              <a:t>✦  Institutional Co-Branding &amp; QR Seal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Carries school crest, principal signature, and tamper-proof verification QR.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1023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73152" cy="10241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92808"/>
            <a:ext cx="466344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Stream Suitability Index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Primary: Science (PCM w/ AI &amp; CS) — 94% Match</a:t>
            </a:r>
            <a:br/>
            <a:r>
              <a:t>Secondary: Commerce (w/ Applied Math) — 82%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898648"/>
            <a:ext cx="51023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2898648"/>
            <a:ext cx="73152" cy="1024128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008376"/>
            <a:ext cx="466344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Career Personality &amp; Interest Profile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Dominant: Analytical / Problem-Solver (88%), Hands-on / Practical (76%), Structured / Systematic (65%)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14215"/>
            <a:ext cx="51023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014215"/>
            <a:ext cx="73152" cy="10241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23943"/>
            <a:ext cx="466344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Core Learning Styles &amp; Cognitive Strengths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Primary: Logical-Mathematical &amp; Visual-Spatial 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5129784"/>
            <a:ext cx="51023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5129784"/>
            <a:ext cx="73152" cy="10241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239512"/>
            <a:ext cx="4663440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Official School Co-Branding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Features Institution Logo, Principal Endorsement &amp; Counselor Remarks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t>★  INSTITUTIONAL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250+ Leading Schools Trust KYP5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 turnkey counseling ecosystem designed specifically for Principals, Psychologists &amp; School Leaders.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1709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Zero-Friction Batch Assessment Drives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No complex software installation or lab setup. Assess 100 to 1,000+ students simultaneously in school labs or from home using a single School Referral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57800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800600" cy="1709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Eliminate Stream Allotment Conflicts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Say goodbye to parental disputes during Class 10 stream allotment meetings. Every decision is backed by objective, tamper-proof scientific report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19"/>
            <a:ext cx="4800600" cy="1709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Counselor Digital Workspace &amp; Logbook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School counselors record 1-on-1 counseling notes, stream guidance, and parent interaction logs directly in each student's centralized cloud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77639"/>
            <a:ext cx="525780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3977639"/>
            <a:ext cx="525780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19"/>
            <a:ext cx="4800600" cy="1709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Premium Institutional Co-Branding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Elevate school reputation. Every report features the institution's official crest, principal sign-off block, and customized school header.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D97706"/>
                </a:solidFill>
                <a:latin typeface="Calibri"/>
              </a:defRPr>
            </a:pPr>
            <a:r>
              <a:t>★ 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Win-Win Value for Every Key Stakeholder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Engineered to deliver tangible, measurable benefits for schools, counselors, students, and parents.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09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25603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256032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22860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FOR SCHOOLS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Institutional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87752"/>
            <a:ext cx="2231136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Automated batch testing drives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Zero parental dispute stream allocation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Elevates school admissions &amp; prestige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Co-branded official student dossiers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783080"/>
            <a:ext cx="25603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783080"/>
            <a:ext cx="2560320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2" y="1965960"/>
            <a:ext cx="228600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FOR COUNSELORS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10x 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587752"/>
            <a:ext cx="2231136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Instant certified dossier generation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Centralized digital student logbook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Scientifically validated backing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More time for high-touch mentoring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83080"/>
            <a:ext cx="25603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1965960"/>
            <a:ext cx="22860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FOR STUDENTS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Clarity &amp;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587752"/>
            <a:ext cx="2231136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Objective clarity on innate talents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Eliminates peer pressure &amp; confusion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Personalized 4-year academic roadmap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Lifetime digital report &amp; certificate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783080"/>
            <a:ext cx="25603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06256" y="1783080"/>
            <a:ext cx="256032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1965960"/>
            <a:ext cx="228600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FOR PARENTS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Peace of Mind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587752"/>
            <a:ext cx="2231136" cy="3429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Scientific validation for child's future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Clear visibility on emerging careers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Constructive counselor conference notes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✔ High-ROI investment in child's career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defRPr sz="950" b="1">
                <a:solidFill>
                  <a:srgbClr val="9333EA"/>
                </a:solidFill>
                <a:latin typeface="Calibri"/>
              </a:defRPr>
            </a:pPr>
            <a:r>
              <a:t>★  PROVEN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144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Trusted by Leading Educators Across India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Validated by real numbers and glowing testimonials from academic leaders and career psychologists.</a:t>
            </a:r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472"/>
            <a:ext cx="173736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6002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73368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KYP5 — Scientific Career &amp; Stream Guidance Platform  |  Vibrantick Infotech Solutions  |  kyp5.com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73368"/>
            <a:ext cx="14017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4564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456432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299923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Calibri"/>
              </a:defRPr>
            </a:pPr>
            <a:r>
              <a:t>50,000+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Students Assessed Across India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18+ States &amp; UTs 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4564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56432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920240"/>
            <a:ext cx="299923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9333EA"/>
                </a:solidFill>
                <a:latin typeface="Calibri"/>
              </a:defRPr>
            </a:pPr>
            <a:r>
              <a:t>250+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Partner Schools &amp; Coaching Centers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Pan-India Institutional Footprint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83080"/>
            <a:ext cx="34564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783080"/>
            <a:ext cx="34564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920240"/>
            <a:ext cx="2999232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Calibri"/>
              </a:defRPr>
            </a:pPr>
            <a:r>
              <a:t>98.4%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Parent &amp; Counselor Satisfaction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Based on Post-Assessment Surveys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52578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470916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i="1">
                <a:solidFill>
                  <a:srgbClr val="334155"/>
                </a:solidFill>
                <a:latin typeface="Calibri"/>
              </a:defRPr>
            </a:pPr>
            <a:r>
              <a:t>"KYP5 eliminated all friction during our Class 10 stream allotment meetings. The co-branded 15-page dossier gave parents clear scientific justification, resolving disputes before they began."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Calibri"/>
              </a:defRPr>
            </a:pPr>
            <a:r>
              <a:t>— Principal, Leading Public School, Delhi NCR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37560"/>
            <a:ext cx="52578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337560"/>
            <a:ext cx="52578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566160"/>
            <a:ext cx="470916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i="1">
                <a:solidFill>
                  <a:srgbClr val="334155"/>
                </a:solidFill>
                <a:latin typeface="Calibri"/>
              </a:defRPr>
            </a:pPr>
            <a:r>
              <a:t>"As a career psychologist managing 500+ students, KYP5 has boosted my counseling capacity tenfold. The career personality and learning style radar charts give me instant depth into student strengths."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Calibri"/>
              </a:defRPr>
            </a:pPr>
            <a:r>
              <a:t>— Senior Psychologist &amp; Career Guide, Punjab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22960"/>
            <a:ext cx="2369127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691640"/>
            <a:ext cx="53035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Empower Your Students With Scientific Career Clarity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Join 250+ leading schools across India. Onboard your upcoming batch in minutes and eliminate stream confusion forever.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  <a:latin typeface="Calibri"/>
              </a:defRPr>
            </a:pPr>
            <a:r>
              <a:t>✦ 1. Request Sample Dossier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Review an exhaustive 15-page certified counselor report.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  <a:latin typeface="Calibri"/>
              </a:defRPr>
            </a:pPr>
            <a:r>
              <a:t>✦ 2. Book Live Demo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15-minute walkthrough for your leadership and counseling team.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  <a:latin typeface="Calibri"/>
              </a:defRPr>
            </a:pPr>
            <a:r>
              <a:t>✦ 3. Launch Pilot Batch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Onboard a test batch in under 24 hours with custom school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45920"/>
            <a:ext cx="429768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29768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874520"/>
            <a:ext cx="3749040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Get in Touch Today</a:t>
            </a:r>
          </a:p>
          <a:p>
            <a:pPr>
              <a:spcBef>
                <a:spcPts val="1000"/>
              </a:spcBef>
              <a:defRPr sz="1100" b="1">
                <a:solidFill>
                  <a:srgbClr val="4F46E5"/>
                </a:solidFill>
                <a:latin typeface="Calibri"/>
              </a:defRPr>
            </a:pPr>
            <a:r>
              <a:t>🌐 Official Platform</a:t>
            </a:r>
          </a:p>
          <a:p>
            <a:pPr>
              <a:spcBef>
                <a:spcPts val="1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https://kyp5.com</a:t>
            </a:r>
          </a:p>
          <a:p>
            <a:pPr>
              <a:spcBef>
                <a:spcPts val="1000"/>
              </a:spcBef>
              <a:defRPr sz="1100" b="1">
                <a:solidFill>
                  <a:srgbClr val="4F46E5"/>
                </a:solidFill>
                <a:latin typeface="Calibri"/>
              </a:defRPr>
            </a:pPr>
            <a:r>
              <a:t>✉ Email Inquiries</a:t>
            </a:r>
          </a:p>
          <a:p>
            <a:pPr>
              <a:spcBef>
                <a:spcPts val="1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support@kyp5.com</a:t>
            </a:r>
            <a:br/>
            <a:r>
              <a:t>admissions@kyp5.com</a:t>
            </a:r>
          </a:p>
          <a:p>
            <a:pPr>
              <a:spcBef>
                <a:spcPts val="1000"/>
              </a:spcBef>
              <a:defRPr sz="1100" b="1">
                <a:solidFill>
                  <a:srgbClr val="4F46E5"/>
                </a:solidFill>
                <a:latin typeface="Calibri"/>
              </a:defRPr>
            </a:pPr>
            <a:r>
              <a:t>🏢 Organization</a:t>
            </a:r>
          </a:p>
          <a:p>
            <a:pPr>
              <a:spcBef>
                <a:spcPts val="1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Vibrantick Infotech Solutions</a:t>
            </a:r>
          </a:p>
          <a:p>
            <a:pPr>
              <a:spcBef>
                <a:spcPts val="1000"/>
              </a:spcBef>
              <a:defRPr sz="1100" b="1">
                <a:solidFill>
                  <a:srgbClr val="4F46E5"/>
                </a:solidFill>
                <a:latin typeface="Calibri"/>
              </a:defRPr>
            </a:pPr>
            <a:r>
              <a:t>⚡ Instant School Code</a:t>
            </a:r>
          </a:p>
          <a:p>
            <a:pPr>
              <a:spcBef>
                <a:spcPts val="1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kyp5.com/for-schools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